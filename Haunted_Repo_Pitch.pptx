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Haunted Repo turns open source contributing into a game. Built by Team ByteForce at DevForge x Hacktoberfest 2026, Bengaluru.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contributors are scared of open source. Most never send their first PR.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02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754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B8C4"/>
                </a:solidFill>
              </a:rPr>
              <a:t>Haunted Repo  |  Team ByteForce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9B8C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02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9B8C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82296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4F7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Haunted Repo</a:t>
            </a:r>
            <a:endParaRPr lang="en-US" sz="5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82880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A9A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bug is a ghost. Catch it.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2743200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4F7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Halloween game where every GitHub issue becomes a monster.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37490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4F7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</a:t>
            </a:r>
            <a:pPr indent="0" marL="0">
              <a:buNone/>
            </a:pPr>
            <a:r>
              <a:rPr lang="en-US" sz="1400" b="1" dirty="0">
                <a:solidFill>
                  <a:srgbClr val="F59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ByteForce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406908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4F7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DevForge x Hacktoberfest 2026 </a:t>
            </a:r>
            <a:pPr indent="0" marL="0">
              <a:buNone/>
            </a:pPr>
            <a:r>
              <a:rPr lang="en-US" sz="1400" b="1" dirty="0">
                <a:solidFill>
                  <a:srgbClr val="F59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30-31 Oct 2026, Bengaluru</a:t>
            </a:r>
            <a:endParaRPr lang="en-US" sz="1400" dirty="0"/>
          </a:p>
        </p:txBody>
      </p:sp>
      <p:sp>
        <p:nvSpPr>
          <p:cNvPr id="7" name="Dungeon panel"/>
          <p:cNvSpPr/>
          <p:nvPr/>
        </p:nvSpPr>
        <p:spPr>
          <a:xfrm>
            <a:off x="5486400" y="640080"/>
            <a:ext cx="3200400" cy="3840480"/>
          </a:xfrm>
          <a:prstGeom prst="roundRect">
            <a:avLst>
              <a:gd name="adj" fmla="val 2857"/>
            </a:avLst>
          </a:prstGeom>
          <a:solidFill>
            <a:srgbClr val="08202F"/>
          </a:solidFill>
          <a:ln w="12700">
            <a:solidFill>
              <a:srgbClr val="1B7F8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715000" y="8229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A9A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dungeon</a:t>
            </a:r>
            <a:endParaRPr lang="en-US" sz="1400" dirty="0"/>
          </a:p>
        </p:txBody>
      </p:sp>
      <p:sp>
        <p:nvSpPr>
          <p:cNvPr id="9" name="Monster card"/>
          <p:cNvSpPr/>
          <p:nvPr/>
        </p:nvSpPr>
        <p:spPr>
          <a:xfrm>
            <a:off x="5715000" y="1234440"/>
            <a:ext cx="2743200" cy="868680"/>
          </a:xfrm>
          <a:prstGeom prst="roundRect">
            <a:avLst>
              <a:gd name="adj" fmla="val 10526"/>
            </a:avLst>
          </a:prstGeom>
          <a:solidFill>
            <a:srgbClr val="020F1E"/>
          </a:solidFill>
          <a:ln w="12700">
            <a:solidFill>
              <a:srgbClr val="F59A2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852160" y="134416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59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NullPointer Wraith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5852160" y="16916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9B8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bug, error, crash</a:t>
            </a:r>
            <a:endParaRPr lang="en-US" sz="1200" dirty="0"/>
          </a:p>
        </p:txBody>
      </p:sp>
      <p:sp>
        <p:nvSpPr>
          <p:cNvPr id="12" name="Monster card"/>
          <p:cNvSpPr/>
          <p:nvPr/>
        </p:nvSpPr>
        <p:spPr>
          <a:xfrm>
            <a:off x="5715000" y="2194560"/>
            <a:ext cx="2743200" cy="868680"/>
          </a:xfrm>
          <a:prstGeom prst="roundRect">
            <a:avLst>
              <a:gd name="adj" fmla="val 10526"/>
            </a:avLst>
          </a:prstGeom>
          <a:solidFill>
            <a:srgbClr val="020F1E"/>
          </a:solidFill>
          <a:ln w="12700">
            <a:solidFill>
              <a:srgbClr val="1B7F8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852160" y="230428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59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Typo Bat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5852160" y="26517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9B8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docs, typo, readme</a:t>
            </a:r>
            <a:endParaRPr lang="en-US" sz="1200" dirty="0"/>
          </a:p>
        </p:txBody>
      </p:sp>
      <p:sp>
        <p:nvSpPr>
          <p:cNvPr id="15" name="Monster card"/>
          <p:cNvSpPr/>
          <p:nvPr/>
        </p:nvSpPr>
        <p:spPr>
          <a:xfrm>
            <a:off x="5715000" y="3154680"/>
            <a:ext cx="2743200" cy="868680"/>
          </a:xfrm>
          <a:prstGeom prst="roundRect">
            <a:avLst>
              <a:gd name="adj" fmla="val 10526"/>
            </a:avLst>
          </a:prstGeom>
          <a:solidFill>
            <a:srgbClr val="020F1E"/>
          </a:solidFill>
          <a:ln w="12700">
            <a:solidFill>
              <a:srgbClr val="1B7F8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852160" y="326440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59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Tiny Pumpkin Imp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5852160" y="36118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9B8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 first issue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5715000" y="4114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A9B8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issue is a monster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4F7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Problem: </a:t>
            </a:r>
            <a:pPr indent="0" marL="0">
              <a:buNone/>
            </a:pPr>
            <a:r>
              <a:rPr lang="en-US" sz="3200" b="1" dirty="0">
                <a:solidFill>
                  <a:srgbClr val="1A9A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Haunted Forest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37160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59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Scary big repos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73736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4F7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big repo looks like a dark, haunted forest.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42316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59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clear start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78892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4F7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Nobody tells you which issue is easy or where to begin.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347472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59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first PR is a wall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384048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4F7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people never send a single pull request.</a:t>
            </a:r>
            <a:endParaRPr lang="en-US" sz="1600" dirty="0"/>
          </a:p>
        </p:txBody>
      </p:sp>
      <p:sp>
        <p:nvSpPr>
          <p:cNvPr id="9" name="Question bubble"/>
          <p:cNvSpPr/>
          <p:nvPr/>
        </p:nvSpPr>
        <p:spPr>
          <a:xfrm>
            <a:off x="5120640" y="1371600"/>
            <a:ext cx="3566160" cy="777240"/>
          </a:xfrm>
          <a:prstGeom prst="roundRect">
            <a:avLst>
              <a:gd name="adj" fmla="val 11765"/>
            </a:avLst>
          </a:prstGeom>
          <a:solidFill>
            <a:srgbClr val="08202F"/>
          </a:solidFill>
          <a:ln w="12700">
            <a:solidFill>
              <a:srgbClr val="1B7F8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349240" y="137160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F7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do I start?</a:t>
            </a:r>
            <a:endParaRPr lang="en-US" sz="1800" dirty="0"/>
          </a:p>
        </p:txBody>
      </p:sp>
      <p:sp>
        <p:nvSpPr>
          <p:cNvPr id="11" name="Question bubble"/>
          <p:cNvSpPr/>
          <p:nvPr/>
        </p:nvSpPr>
        <p:spPr>
          <a:xfrm>
            <a:off x="5120640" y="2377440"/>
            <a:ext cx="3566160" cy="777240"/>
          </a:xfrm>
          <a:prstGeom prst="roundRect">
            <a:avLst>
              <a:gd name="adj" fmla="val 11765"/>
            </a:avLst>
          </a:prstGeom>
          <a:solidFill>
            <a:srgbClr val="0B2A3A"/>
          </a:solidFill>
          <a:ln w="12700">
            <a:solidFill>
              <a:srgbClr val="1B7F8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349240" y="237744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9A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issue is easy?</a:t>
            </a:r>
            <a:endParaRPr lang="en-US" sz="1800" dirty="0"/>
          </a:p>
        </p:txBody>
      </p:sp>
      <p:sp>
        <p:nvSpPr>
          <p:cNvPr id="13" name="Question bubble"/>
          <p:cNvSpPr/>
          <p:nvPr/>
        </p:nvSpPr>
        <p:spPr>
          <a:xfrm>
            <a:off x="5120640" y="3383280"/>
            <a:ext cx="3566160" cy="777240"/>
          </a:xfrm>
          <a:prstGeom prst="roundRect">
            <a:avLst>
              <a:gd name="adj" fmla="val 11765"/>
            </a:avLst>
          </a:prstGeom>
          <a:solidFill>
            <a:srgbClr val="08202F"/>
          </a:solidFill>
          <a:ln w="12700">
            <a:solidFill>
              <a:srgbClr val="1B7F8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349240" y="338328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F7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do I open my first PR?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9B8C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4F7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Idea: </a:t>
            </a:r>
            <a:pPr indent="0" marL="0">
              <a:buNone/>
            </a:pPr>
            <a:r>
              <a:rPr lang="en-US" sz="3200" b="1" dirty="0">
                <a:solidFill>
                  <a:srgbClr val="1A9A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Contributing as a Game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887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4F7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Paste any public GitHub repo. Its open issues turn into monsters in a dungeon.</a:t>
            </a:r>
            <a:endParaRPr lang="en-US" sz="1800" dirty="0"/>
          </a:p>
        </p:txBody>
      </p:sp>
      <p:sp>
        <p:nvSpPr>
          <p:cNvPr id="4" name="Idea card"/>
          <p:cNvSpPr/>
          <p:nvPr/>
        </p:nvSpPr>
        <p:spPr>
          <a:xfrm>
            <a:off x="457200" y="2011680"/>
            <a:ext cx="2560320" cy="2194560"/>
          </a:xfrm>
          <a:prstGeom prst="roundRect">
            <a:avLst>
              <a:gd name="adj" fmla="val 4167"/>
            </a:avLst>
          </a:prstGeom>
          <a:solidFill>
            <a:srgbClr val="08202F"/>
          </a:solidFill>
          <a:ln w="12700">
            <a:solidFill>
              <a:srgbClr val="1B7F8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219456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1A9A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9260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59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Paste a repo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342900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4F7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owner/repo or Demo mode.</a:t>
            </a:r>
            <a:endParaRPr lang="en-US" sz="1400" dirty="0"/>
          </a:p>
        </p:txBody>
      </p:sp>
      <p:sp>
        <p:nvSpPr>
          <p:cNvPr id="8" name="Arrow"/>
          <p:cNvSpPr/>
          <p:nvPr/>
        </p:nvSpPr>
        <p:spPr>
          <a:xfrm>
            <a:off x="3044952" y="3017520"/>
            <a:ext cx="274320" cy="228600"/>
          </a:xfrm>
          <a:prstGeom prst="rightArrow">
            <a:avLst/>
          </a:prstGeom>
          <a:solidFill>
            <a:srgbClr val="1A9AB0"/>
          </a:solidFill>
          <a:ln w="12700">
            <a:solidFill>
              <a:srgbClr val="1A9AB0"/>
            </a:solidFill>
            <a:prstDash val="solid"/>
          </a:ln>
        </p:spPr>
      </p:sp>
      <p:sp>
        <p:nvSpPr>
          <p:cNvPr id="9" name="Idea card"/>
          <p:cNvSpPr/>
          <p:nvPr/>
        </p:nvSpPr>
        <p:spPr>
          <a:xfrm>
            <a:off x="3291840" y="2011680"/>
            <a:ext cx="2560320" cy="2194560"/>
          </a:xfrm>
          <a:prstGeom prst="roundRect">
            <a:avLst>
              <a:gd name="adj" fmla="val 4167"/>
            </a:avLst>
          </a:prstGeom>
          <a:solidFill>
            <a:srgbClr val="08202F"/>
          </a:solidFill>
          <a:ln w="12700">
            <a:solidFill>
              <a:srgbClr val="1B7F8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520440" y="219456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1A9A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4000" dirty="0"/>
          </a:p>
        </p:txBody>
      </p:sp>
      <p:sp>
        <p:nvSpPr>
          <p:cNvPr id="11" name="Text 9"/>
          <p:cNvSpPr txBox="1"/>
          <p:nvPr/>
        </p:nvSpPr>
        <p:spPr>
          <a:xfrm>
            <a:off x="3520440" y="29260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59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Monsters spawn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3520440" y="342900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4F7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Easy issues in Level 1, harder ones deeper.</a:t>
            </a:r>
            <a:endParaRPr lang="en-US" sz="1400" dirty="0"/>
          </a:p>
        </p:txBody>
      </p:sp>
      <p:sp>
        <p:nvSpPr>
          <p:cNvPr id="13" name="Arrow"/>
          <p:cNvSpPr/>
          <p:nvPr/>
        </p:nvSpPr>
        <p:spPr>
          <a:xfrm>
            <a:off x="5879592" y="3017520"/>
            <a:ext cx="274320" cy="228600"/>
          </a:xfrm>
          <a:prstGeom prst="rightArrow">
            <a:avLst/>
          </a:prstGeom>
          <a:solidFill>
            <a:srgbClr val="1A9AB0"/>
          </a:solidFill>
          <a:ln w="12700">
            <a:solidFill>
              <a:srgbClr val="1A9AB0"/>
            </a:solidFill>
            <a:prstDash val="solid"/>
          </a:ln>
        </p:spPr>
      </p:sp>
      <p:sp>
        <p:nvSpPr>
          <p:cNvPr id="14" name="Idea card"/>
          <p:cNvSpPr/>
          <p:nvPr/>
        </p:nvSpPr>
        <p:spPr>
          <a:xfrm>
            <a:off x="6126480" y="2011680"/>
            <a:ext cx="2560320" cy="2194560"/>
          </a:xfrm>
          <a:prstGeom prst="roundRect">
            <a:avLst>
              <a:gd name="adj" fmla="val 4167"/>
            </a:avLst>
          </a:prstGeom>
          <a:solidFill>
            <a:srgbClr val="08202F"/>
          </a:solidFill>
          <a:ln w="12700">
            <a:solidFill>
              <a:srgbClr val="1B7F8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355080" y="219456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1A9A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4000" dirty="0"/>
          </a:p>
        </p:txBody>
      </p:sp>
      <p:sp>
        <p:nvSpPr>
          <p:cNvPr id="16" name="Text 14"/>
          <p:cNvSpPr txBox="1"/>
          <p:nvPr/>
        </p:nvSpPr>
        <p:spPr>
          <a:xfrm>
            <a:off x="6355080" y="29260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59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 and earn XP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6355080" y="342900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4F7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fix, real pull request, real rank.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9B8C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4F7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Issue Is </a:t>
            </a:r>
            <a:pPr indent="0" marL="0">
              <a:buNone/>
            </a:pPr>
            <a:r>
              <a:rPr lang="en-US" sz="3200" b="1" dirty="0">
                <a:solidFill>
                  <a:srgbClr val="1A9A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Monster</a:t>
            </a:r>
            <a:endParaRPr lang="en-US" sz="3200" dirty="0"/>
          </a:p>
        </p:txBody>
      </p:sp>
      <p:sp>
        <p:nvSpPr>
          <p:cNvPr id="3" name="Monster card"/>
          <p:cNvSpPr/>
          <p:nvPr/>
        </p:nvSpPr>
        <p:spPr>
          <a:xfrm>
            <a:off x="457200" y="1188720"/>
            <a:ext cx="2560320" cy="731520"/>
          </a:xfrm>
          <a:prstGeom prst="roundRect">
            <a:avLst>
              <a:gd name="adj" fmla="val 12500"/>
            </a:avLst>
          </a:prstGeom>
          <a:solidFill>
            <a:srgbClr val="08202F"/>
          </a:solidFill>
          <a:ln w="12700">
            <a:solidFill>
              <a:srgbClr val="1B7F8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2801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59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NullPointer Wraith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6002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9B8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bug, error, crash</a:t>
            </a:r>
            <a:endParaRPr lang="en-US" sz="1200" dirty="0"/>
          </a:p>
        </p:txBody>
      </p:sp>
      <p:sp>
        <p:nvSpPr>
          <p:cNvPr id="6" name="Monster card"/>
          <p:cNvSpPr/>
          <p:nvPr/>
        </p:nvSpPr>
        <p:spPr>
          <a:xfrm>
            <a:off x="3291840" y="1188720"/>
            <a:ext cx="2560320" cy="731520"/>
          </a:xfrm>
          <a:prstGeom prst="roundRect">
            <a:avLst>
              <a:gd name="adj" fmla="val 12500"/>
            </a:avLst>
          </a:prstGeom>
          <a:solidFill>
            <a:srgbClr val="08202F"/>
          </a:solidFill>
          <a:ln w="12700">
            <a:solidFill>
              <a:srgbClr val="1B7F8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474720" y="12801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59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Typo Bat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3474720" y="16002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9B8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docs, typo, readme</a:t>
            </a:r>
            <a:endParaRPr lang="en-US" sz="1200" dirty="0"/>
          </a:p>
        </p:txBody>
      </p:sp>
      <p:sp>
        <p:nvSpPr>
          <p:cNvPr id="9" name="Monster card"/>
          <p:cNvSpPr/>
          <p:nvPr/>
        </p:nvSpPr>
        <p:spPr>
          <a:xfrm>
            <a:off x="6126480" y="1188720"/>
            <a:ext cx="2560320" cy="731520"/>
          </a:xfrm>
          <a:prstGeom prst="roundRect">
            <a:avLst>
              <a:gd name="adj" fmla="val 12500"/>
            </a:avLst>
          </a:prstGeom>
          <a:solidFill>
            <a:srgbClr val="08202F"/>
          </a:solidFill>
          <a:ln w="12700">
            <a:solidFill>
              <a:srgbClr val="1B7F8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309360" y="12801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59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Tiny Pumpkin Imp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309360" y="16002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9B8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 first issue</a:t>
            </a:r>
            <a:endParaRPr lang="en-US" sz="1200" dirty="0"/>
          </a:p>
        </p:txBody>
      </p:sp>
      <p:sp>
        <p:nvSpPr>
          <p:cNvPr id="12" name="Monster card"/>
          <p:cNvSpPr/>
          <p:nvPr/>
        </p:nvSpPr>
        <p:spPr>
          <a:xfrm>
            <a:off x="457200" y="2057400"/>
            <a:ext cx="2560320" cy="731520"/>
          </a:xfrm>
          <a:prstGeom prst="roundRect">
            <a:avLst>
              <a:gd name="adj" fmla="val 12500"/>
            </a:avLst>
          </a:prstGeom>
          <a:solidFill>
            <a:srgbClr val="08202F"/>
          </a:solidFill>
          <a:ln w="12700">
            <a:solidFill>
              <a:srgbClr val="1B7F8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" y="21488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59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Golem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246888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9B8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feature, enhancement</a:t>
            </a:r>
            <a:endParaRPr lang="en-US" sz="1200" dirty="0"/>
          </a:p>
        </p:txBody>
      </p:sp>
      <p:sp>
        <p:nvSpPr>
          <p:cNvPr id="15" name="Monster card"/>
          <p:cNvSpPr/>
          <p:nvPr/>
        </p:nvSpPr>
        <p:spPr>
          <a:xfrm>
            <a:off x="3291840" y="2057400"/>
            <a:ext cx="2560320" cy="731520"/>
          </a:xfrm>
          <a:prstGeom prst="roundRect">
            <a:avLst>
              <a:gd name="adj" fmla="val 12500"/>
            </a:avLst>
          </a:prstGeom>
          <a:solidFill>
            <a:srgbClr val="08202F"/>
          </a:solidFill>
          <a:ln w="12700">
            <a:solidFill>
              <a:srgbClr val="1B7F8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474720" y="21488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59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 Zombie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3474720" y="246888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9B8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</a:t>
            </a:r>
            <a:endParaRPr lang="en-US" sz="1200" dirty="0"/>
          </a:p>
        </p:txBody>
      </p:sp>
      <p:sp>
        <p:nvSpPr>
          <p:cNvPr id="18" name="Monster card"/>
          <p:cNvSpPr/>
          <p:nvPr/>
        </p:nvSpPr>
        <p:spPr>
          <a:xfrm>
            <a:off x="6126480" y="2057400"/>
            <a:ext cx="2560320" cy="731520"/>
          </a:xfrm>
          <a:prstGeom prst="roundRect">
            <a:avLst>
              <a:gd name="adj" fmla="val 12500"/>
            </a:avLst>
          </a:prstGeom>
          <a:solidFill>
            <a:srgbClr val="08202F"/>
          </a:solidFill>
          <a:ln w="12700">
            <a:solidFill>
              <a:srgbClr val="1B7F8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309360" y="21488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59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Vampire Leak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309360" y="246888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9B8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</a:t>
            </a:r>
            <a:endParaRPr lang="en-US" sz="1200" dirty="0"/>
          </a:p>
        </p:txBody>
      </p:sp>
      <p:sp>
        <p:nvSpPr>
          <p:cNvPr id="21" name="Monster card"/>
          <p:cNvSpPr/>
          <p:nvPr/>
        </p:nvSpPr>
        <p:spPr>
          <a:xfrm>
            <a:off x="457200" y="2926080"/>
            <a:ext cx="2560320" cy="731520"/>
          </a:xfrm>
          <a:prstGeom prst="roundRect">
            <a:avLst>
              <a:gd name="adj" fmla="val 12500"/>
            </a:avLst>
          </a:prstGeom>
          <a:solidFill>
            <a:srgbClr val="08202F"/>
          </a:solidFill>
          <a:ln w="12700">
            <a:solidFill>
              <a:srgbClr val="1B7F8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40080" y="30175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59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Flaky Test Skeleton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640080" y="333756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9B8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tests</a:t>
            </a:r>
            <a:endParaRPr lang="en-US" sz="1200" dirty="0"/>
          </a:p>
        </p:txBody>
      </p:sp>
      <p:sp>
        <p:nvSpPr>
          <p:cNvPr id="24" name="Monster card"/>
          <p:cNvSpPr/>
          <p:nvPr/>
        </p:nvSpPr>
        <p:spPr>
          <a:xfrm>
            <a:off x="3291840" y="2926080"/>
            <a:ext cx="2560320" cy="731520"/>
          </a:xfrm>
          <a:prstGeom prst="roundRect">
            <a:avLst>
              <a:gd name="adj" fmla="val 12500"/>
            </a:avLst>
          </a:prstGeom>
          <a:solidFill>
            <a:srgbClr val="08202F"/>
          </a:solidFill>
          <a:ln w="12700">
            <a:solidFill>
              <a:srgbClr val="1B7F8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3474720" y="30175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59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Merge Conflict Demon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3474720" y="333756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9B8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merge conflicts</a:t>
            </a:r>
            <a:endParaRPr lang="en-US" sz="1200" dirty="0"/>
          </a:p>
        </p:txBody>
      </p:sp>
      <p:sp>
        <p:nvSpPr>
          <p:cNvPr id="27" name="Monster card"/>
          <p:cNvSpPr/>
          <p:nvPr/>
        </p:nvSpPr>
        <p:spPr>
          <a:xfrm>
            <a:off x="6126480" y="2926080"/>
            <a:ext cx="2560320" cy="731520"/>
          </a:xfrm>
          <a:prstGeom prst="roundRect">
            <a:avLst>
              <a:gd name="adj" fmla="val 12500"/>
            </a:avLst>
          </a:prstGeom>
          <a:solidFill>
            <a:srgbClr val="08202F"/>
          </a:solidFill>
          <a:ln w="12700">
            <a:solidFill>
              <a:srgbClr val="1B7F8F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309360" y="30175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59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Unknown Spirit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6309360" y="333756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9B8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anything else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457200" y="39776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A9A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Level 1  </a:t>
            </a:r>
            <a:pPr indent="0" marL="0">
              <a:buNone/>
            </a:pPr>
            <a:r>
              <a:rPr lang="en-US" sz="1400" b="1" dirty="0">
                <a:solidFill>
                  <a:srgbClr val="F4F7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Graveyard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457200" y="4279392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9B8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easy issues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3291840" y="39776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A9A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Level 2  </a:t>
            </a:r>
            <a:pPr indent="0" marL="0">
              <a:buNone/>
            </a:pPr>
            <a:r>
              <a:rPr lang="en-US" sz="1400" b="1" dirty="0">
                <a:solidFill>
                  <a:srgbClr val="F4F7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Haunted Library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3291840" y="4279392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9B8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harder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6126480" y="39776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A9A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Level 3  </a:t>
            </a:r>
            <a:pPr indent="0" marL="0">
              <a:buNone/>
            </a:pPr>
            <a:r>
              <a:rPr lang="en-US" sz="1400" b="1" dirty="0">
                <a:solidFill>
                  <a:srgbClr val="F4F7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Boss Crypt</a:t>
            </a:r>
            <a:endParaRPr lang="en-US" sz="1400" dirty="0"/>
          </a:p>
        </p:txBody>
      </p:sp>
      <p:sp>
        <p:nvSpPr>
          <p:cNvPr id="35" name="Text 33"/>
          <p:cNvSpPr txBox="1"/>
          <p:nvPr/>
        </p:nvSpPr>
        <p:spPr>
          <a:xfrm>
            <a:off x="6126480" y="4279392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9B8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hardest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9B8C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4F7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the </a:t>
            </a:r>
            <a:pPr indent="0" marL="0">
              <a:buNone/>
            </a:pPr>
            <a:r>
              <a:rPr lang="en-US" sz="3200" b="1" dirty="0">
                <a:solidFill>
                  <a:srgbClr val="1A9A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 Works</a:t>
            </a:r>
            <a:endParaRPr lang="en-US" sz="3200" dirty="0"/>
          </a:p>
        </p:txBody>
      </p:sp>
      <p:sp>
        <p:nvSpPr>
          <p:cNvPr id="3" name="Step card"/>
          <p:cNvSpPr/>
          <p:nvPr/>
        </p:nvSpPr>
        <p:spPr>
          <a:xfrm>
            <a:off x="457200" y="1188720"/>
            <a:ext cx="2560320" cy="1554480"/>
          </a:xfrm>
          <a:prstGeom prst="roundRect">
            <a:avLst>
              <a:gd name="adj" fmla="val 5882"/>
            </a:avLst>
          </a:prstGeom>
          <a:solidFill>
            <a:srgbClr val="08202F"/>
          </a:solidFill>
          <a:ln w="12700">
            <a:solidFill>
              <a:srgbClr val="1B7F8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32588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A9A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59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 the dungeon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05740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4F7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Paste owner/repo or try Demo mode.</a:t>
            </a:r>
            <a:endParaRPr lang="en-US" sz="1400" dirty="0"/>
          </a:p>
        </p:txBody>
      </p:sp>
      <p:sp>
        <p:nvSpPr>
          <p:cNvPr id="7" name="Step card"/>
          <p:cNvSpPr/>
          <p:nvPr/>
        </p:nvSpPr>
        <p:spPr>
          <a:xfrm>
            <a:off x="3291840" y="1188720"/>
            <a:ext cx="2560320" cy="1554480"/>
          </a:xfrm>
          <a:prstGeom prst="roundRect">
            <a:avLst>
              <a:gd name="adj" fmla="val 5882"/>
            </a:avLst>
          </a:prstGeom>
          <a:solidFill>
            <a:srgbClr val="08202F"/>
          </a:solidFill>
          <a:ln w="12700">
            <a:solidFill>
              <a:srgbClr val="1B7F8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474720" y="132588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A9A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3474720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59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 a monster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3474720" y="205740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4F7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card shows the issue title, level and XP.</a:t>
            </a:r>
            <a:endParaRPr lang="en-US" sz="1400" dirty="0"/>
          </a:p>
        </p:txBody>
      </p:sp>
      <p:sp>
        <p:nvSpPr>
          <p:cNvPr id="11" name="Step card"/>
          <p:cNvSpPr/>
          <p:nvPr/>
        </p:nvSpPr>
        <p:spPr>
          <a:xfrm>
            <a:off x="6126480" y="1188720"/>
            <a:ext cx="2560320" cy="1554480"/>
          </a:xfrm>
          <a:prstGeom prst="roundRect">
            <a:avLst>
              <a:gd name="adj" fmla="val 5882"/>
            </a:avLst>
          </a:prstGeom>
          <a:solidFill>
            <a:srgbClr val="08202F"/>
          </a:solidFill>
          <a:ln w="12700">
            <a:solidFill>
              <a:srgbClr val="1B7F8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309360" y="132588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A9A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6309360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59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for hints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309360" y="205740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4F7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local AI helps without giving the answer.</a:t>
            </a:r>
            <a:endParaRPr lang="en-US" sz="1400" dirty="0"/>
          </a:p>
        </p:txBody>
      </p:sp>
      <p:sp>
        <p:nvSpPr>
          <p:cNvPr id="15" name="Step card"/>
          <p:cNvSpPr/>
          <p:nvPr/>
        </p:nvSpPr>
        <p:spPr>
          <a:xfrm>
            <a:off x="457200" y="2926080"/>
            <a:ext cx="2560320" cy="1554480"/>
          </a:xfrm>
          <a:prstGeom prst="roundRect">
            <a:avLst>
              <a:gd name="adj" fmla="val 5882"/>
            </a:avLst>
          </a:prstGeom>
          <a:solidFill>
            <a:srgbClr val="08202F"/>
          </a:solidFill>
          <a:ln w="12700">
            <a:solidFill>
              <a:srgbClr val="1B7F8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0080" y="306324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A9A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4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34747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59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 it for real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379476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4F7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the issue on GitHub and send a pull request.</a:t>
            </a:r>
            <a:endParaRPr lang="en-US" sz="1400" dirty="0"/>
          </a:p>
        </p:txBody>
      </p:sp>
      <p:sp>
        <p:nvSpPr>
          <p:cNvPr id="19" name="Step card"/>
          <p:cNvSpPr/>
          <p:nvPr/>
        </p:nvSpPr>
        <p:spPr>
          <a:xfrm>
            <a:off x="3291840" y="2926080"/>
            <a:ext cx="2560320" cy="1554480"/>
          </a:xfrm>
          <a:prstGeom prst="roundRect">
            <a:avLst>
              <a:gd name="adj" fmla="val 5882"/>
            </a:avLst>
          </a:prstGeom>
          <a:solidFill>
            <a:srgbClr val="08202F"/>
          </a:solidFill>
          <a:ln w="12700">
            <a:solidFill>
              <a:srgbClr val="1B7F8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474720" y="306324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A9A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2400" dirty="0"/>
          </a:p>
        </p:txBody>
      </p:sp>
      <p:sp>
        <p:nvSpPr>
          <p:cNvPr id="21" name="Text 19"/>
          <p:cNvSpPr txBox="1"/>
          <p:nvPr/>
        </p:nvSpPr>
        <p:spPr>
          <a:xfrm>
            <a:off x="3474720" y="34747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59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Banish the monster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3474720" y="379476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4F7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Paste your PR link to get XP.</a:t>
            </a:r>
            <a:endParaRPr lang="en-US" sz="1400" dirty="0"/>
          </a:p>
        </p:txBody>
      </p:sp>
      <p:sp>
        <p:nvSpPr>
          <p:cNvPr id="23" name="Step card"/>
          <p:cNvSpPr/>
          <p:nvPr/>
        </p:nvSpPr>
        <p:spPr>
          <a:xfrm>
            <a:off x="6126480" y="2926080"/>
            <a:ext cx="2560320" cy="1554480"/>
          </a:xfrm>
          <a:prstGeom prst="roundRect">
            <a:avLst>
              <a:gd name="adj" fmla="val 5882"/>
            </a:avLst>
          </a:prstGeom>
          <a:solidFill>
            <a:srgbClr val="08202F"/>
          </a:solidFill>
          <a:ln w="12700">
            <a:solidFill>
              <a:srgbClr val="1B7F8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309360" y="306324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A9A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2400" dirty="0"/>
          </a:p>
        </p:txBody>
      </p:sp>
      <p:sp>
        <p:nvSpPr>
          <p:cNvPr id="25" name="Text 23"/>
          <p:cNvSpPr txBox="1"/>
          <p:nvPr/>
        </p:nvSpPr>
        <p:spPr>
          <a:xfrm>
            <a:off x="6309360" y="34747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59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Rank up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6309360" y="379476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4F7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Climb from Rookie Ghost to Grim Reaper.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9B8C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4F7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Hints Cost XP: </a:t>
            </a:r>
            <a:pPr indent="0" marL="0">
              <a:buNone/>
            </a:pPr>
            <a:r>
              <a:rPr lang="en-US" sz="3200" b="1" dirty="0">
                <a:solidFill>
                  <a:srgbClr val="1A9A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Help, Not Answers</a:t>
            </a:r>
            <a:endParaRPr lang="en-US" sz="3200" dirty="0"/>
          </a:p>
        </p:txBody>
      </p:sp>
      <p:sp>
        <p:nvSpPr>
          <p:cNvPr id="3" name="Hint card"/>
          <p:cNvSpPr/>
          <p:nvPr/>
        </p:nvSpPr>
        <p:spPr>
          <a:xfrm>
            <a:off x="457200" y="1280160"/>
            <a:ext cx="2560320" cy="2468880"/>
          </a:xfrm>
          <a:prstGeom prst="roundRect">
            <a:avLst>
              <a:gd name="adj" fmla="val 3704"/>
            </a:avLst>
          </a:prstGeom>
          <a:solidFill>
            <a:srgbClr val="08202F"/>
          </a:solidFill>
          <a:ln w="12700">
            <a:solidFill>
              <a:srgbClr val="1B7F8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46304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1A9A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5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2860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9B8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XP stays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6974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4F7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Hint 1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31089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4F7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gentle nudge</a:t>
            </a:r>
            <a:endParaRPr lang="en-US" sz="1400" dirty="0"/>
          </a:p>
        </p:txBody>
      </p:sp>
      <p:sp>
        <p:nvSpPr>
          <p:cNvPr id="8" name="Hint card"/>
          <p:cNvSpPr/>
          <p:nvPr/>
        </p:nvSpPr>
        <p:spPr>
          <a:xfrm>
            <a:off x="3291840" y="1280160"/>
            <a:ext cx="2560320" cy="2468880"/>
          </a:xfrm>
          <a:prstGeom prst="roundRect">
            <a:avLst>
              <a:gd name="adj" fmla="val 3704"/>
            </a:avLst>
          </a:prstGeom>
          <a:solidFill>
            <a:srgbClr val="08202F"/>
          </a:solidFill>
          <a:ln w="12700">
            <a:solidFill>
              <a:srgbClr val="1B7F8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474720" y="146304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59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75%</a:t>
            </a:r>
            <a:endParaRPr lang="en-US" sz="5400" dirty="0"/>
          </a:p>
        </p:txBody>
      </p:sp>
      <p:sp>
        <p:nvSpPr>
          <p:cNvPr id="10" name="Text 8"/>
          <p:cNvSpPr txBox="1"/>
          <p:nvPr/>
        </p:nvSpPr>
        <p:spPr>
          <a:xfrm>
            <a:off x="3474720" y="22860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9B8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XP stays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3474720" y="26974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4F7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Hint 2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3474720" y="31089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4F7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file or keyword to look at</a:t>
            </a:r>
            <a:endParaRPr lang="en-US" sz="1400" dirty="0"/>
          </a:p>
        </p:txBody>
      </p:sp>
      <p:sp>
        <p:nvSpPr>
          <p:cNvPr id="13" name="Hint card"/>
          <p:cNvSpPr/>
          <p:nvPr/>
        </p:nvSpPr>
        <p:spPr>
          <a:xfrm>
            <a:off x="6126480" y="1280160"/>
            <a:ext cx="2560320" cy="2468880"/>
          </a:xfrm>
          <a:prstGeom prst="roundRect">
            <a:avLst>
              <a:gd name="adj" fmla="val 3704"/>
            </a:avLst>
          </a:prstGeom>
          <a:solidFill>
            <a:srgbClr val="08202F"/>
          </a:solidFill>
          <a:ln w="12700">
            <a:solidFill>
              <a:srgbClr val="1B7F8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309360" y="146304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E87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</a:t>
            </a:r>
            <a:endParaRPr lang="en-US" sz="5400" dirty="0"/>
          </a:p>
        </p:txBody>
      </p:sp>
      <p:sp>
        <p:nvSpPr>
          <p:cNvPr id="15" name="Text 13"/>
          <p:cNvSpPr txBox="1"/>
          <p:nvPr/>
        </p:nvSpPr>
        <p:spPr>
          <a:xfrm>
            <a:off x="6309360" y="22860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9B8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XP stays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309360" y="26974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4F7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Hint 3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6309360" y="31089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4F7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AI draft patch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40233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A9B8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AI runs locally on your laptop. The more help you take, the less XP you earn.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9B8C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4F7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Rank Up: </a:t>
            </a:r>
            <a:pPr indent="0" marL="0">
              <a:buNone/>
            </a:pPr>
            <a:r>
              <a:rPr lang="en-US" sz="3200" b="1" dirty="0">
                <a:solidFill>
                  <a:srgbClr val="1A9A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Ghost to Reaper</a:t>
            </a:r>
            <a:endParaRPr lang="en-US" sz="3200" dirty="0"/>
          </a:p>
        </p:txBody>
      </p:sp>
      <p:sp>
        <p:nvSpPr>
          <p:cNvPr id="3" name="Rank step"/>
          <p:cNvSpPr/>
          <p:nvPr/>
        </p:nvSpPr>
        <p:spPr>
          <a:xfrm>
            <a:off x="457200" y="3291840"/>
            <a:ext cx="1920240" cy="914400"/>
          </a:xfrm>
          <a:prstGeom prst="roundRect">
            <a:avLst>
              <a:gd name="adj" fmla="val 10000"/>
            </a:avLst>
          </a:prstGeom>
          <a:solidFill>
            <a:srgbClr val="08202F"/>
          </a:solidFill>
          <a:ln w="12700">
            <a:solidFill>
              <a:srgbClr val="1B7F8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3401568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A9A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7490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4F7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Rookie Ghost</a:t>
            </a:r>
            <a:endParaRPr lang="en-US" sz="1600" dirty="0"/>
          </a:p>
        </p:txBody>
      </p:sp>
      <p:sp>
        <p:nvSpPr>
          <p:cNvPr id="6" name="Rank step"/>
          <p:cNvSpPr/>
          <p:nvPr/>
        </p:nvSpPr>
        <p:spPr>
          <a:xfrm>
            <a:off x="2560320" y="2651760"/>
            <a:ext cx="1920240" cy="1554480"/>
          </a:xfrm>
          <a:prstGeom prst="roundRect">
            <a:avLst>
              <a:gd name="adj" fmla="val 5882"/>
            </a:avLst>
          </a:prstGeom>
          <a:solidFill>
            <a:srgbClr val="08202F"/>
          </a:solidFill>
          <a:ln w="12700">
            <a:solidFill>
              <a:srgbClr val="1B7F8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743200" y="2761488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A9A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2743200" y="31089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4F7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Pumpkin Hunter</a:t>
            </a:r>
            <a:endParaRPr lang="en-US" sz="1600" dirty="0"/>
          </a:p>
        </p:txBody>
      </p:sp>
      <p:sp>
        <p:nvSpPr>
          <p:cNvPr id="9" name="Rank step"/>
          <p:cNvSpPr/>
          <p:nvPr/>
        </p:nvSpPr>
        <p:spPr>
          <a:xfrm>
            <a:off x="4663440" y="2011680"/>
            <a:ext cx="1920240" cy="2194560"/>
          </a:xfrm>
          <a:prstGeom prst="roundRect">
            <a:avLst>
              <a:gd name="adj" fmla="val 4762"/>
            </a:avLst>
          </a:prstGeom>
          <a:solidFill>
            <a:srgbClr val="08202F"/>
          </a:solidFill>
          <a:ln w="12700">
            <a:solidFill>
              <a:srgbClr val="1B7F8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46320" y="2121408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A9A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4846320" y="24688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4F7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Crypt Keeper</a:t>
            </a:r>
            <a:endParaRPr lang="en-US" sz="1600" dirty="0"/>
          </a:p>
        </p:txBody>
      </p:sp>
      <p:sp>
        <p:nvSpPr>
          <p:cNvPr id="12" name="Rank step"/>
          <p:cNvSpPr/>
          <p:nvPr/>
        </p:nvSpPr>
        <p:spPr>
          <a:xfrm>
            <a:off x="6766560" y="1371600"/>
            <a:ext cx="1920240" cy="2834640"/>
          </a:xfrm>
          <a:prstGeom prst="roundRect">
            <a:avLst>
              <a:gd name="adj" fmla="val 4762"/>
            </a:avLst>
          </a:prstGeom>
          <a:solidFill>
            <a:srgbClr val="F59A2B"/>
          </a:solidFill>
          <a:ln w="12700">
            <a:solidFill>
              <a:srgbClr val="F59A2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949440" y="1481328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20F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6949440" y="18288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20F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Grim Reaper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43434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9B8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XP and a progress bar keep you going. Progress is saved in your browser.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9B8C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4F7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 </a:t>
            </a:r>
            <a:pPr indent="0" marL="0">
              <a:buNone/>
            </a:pPr>
            <a:r>
              <a:rPr lang="en-US" sz="3200" b="1" dirty="0">
                <a:solidFill>
                  <a:srgbClr val="1A9A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Inside</a:t>
            </a:r>
            <a:endParaRPr lang="en-US" sz="3200" dirty="0"/>
          </a:p>
        </p:txBody>
      </p:sp>
      <p:sp>
        <p:nvSpPr>
          <p:cNvPr id="3" name="Pipeline box"/>
          <p:cNvSpPr/>
          <p:nvPr/>
        </p:nvSpPr>
        <p:spPr>
          <a:xfrm>
            <a:off x="457200" y="1188720"/>
            <a:ext cx="1783080" cy="1188720"/>
          </a:xfrm>
          <a:prstGeom prst="roundRect">
            <a:avLst>
              <a:gd name="adj" fmla="val 7692"/>
            </a:avLst>
          </a:prstGeom>
          <a:solidFill>
            <a:srgbClr val="08202F"/>
          </a:solidFill>
          <a:ln w="12700">
            <a:solidFill>
              <a:srgbClr val="1B7F8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132588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59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 URL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192024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4F7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owner/repo</a:t>
            </a:r>
            <a:endParaRPr lang="en-US" sz="1400" dirty="0"/>
          </a:p>
        </p:txBody>
      </p:sp>
      <p:sp>
        <p:nvSpPr>
          <p:cNvPr id="6" name="Arrow"/>
          <p:cNvSpPr/>
          <p:nvPr/>
        </p:nvSpPr>
        <p:spPr>
          <a:xfrm>
            <a:off x="2304288" y="1645920"/>
            <a:ext cx="274320" cy="228600"/>
          </a:xfrm>
          <a:prstGeom prst="rightArrow">
            <a:avLst/>
          </a:prstGeom>
          <a:solidFill>
            <a:srgbClr val="1A9AB0"/>
          </a:solidFill>
          <a:ln w="12700">
            <a:solidFill>
              <a:srgbClr val="1A9AB0"/>
            </a:solidFill>
            <a:prstDash val="solid"/>
          </a:ln>
        </p:spPr>
      </p:sp>
      <p:sp>
        <p:nvSpPr>
          <p:cNvPr id="7" name="Pipeline box"/>
          <p:cNvSpPr/>
          <p:nvPr/>
        </p:nvSpPr>
        <p:spPr>
          <a:xfrm>
            <a:off x="2606040" y="1188720"/>
            <a:ext cx="1783080" cy="1188720"/>
          </a:xfrm>
          <a:prstGeom prst="roundRect">
            <a:avLst>
              <a:gd name="adj" fmla="val 7692"/>
            </a:avLst>
          </a:prstGeom>
          <a:solidFill>
            <a:srgbClr val="08202F"/>
          </a:solidFill>
          <a:ln w="12700">
            <a:solidFill>
              <a:srgbClr val="1B7F8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743200" y="132588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59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public API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2743200" y="192024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4F7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read-only, no key</a:t>
            </a:r>
            <a:endParaRPr lang="en-US" sz="1400" dirty="0"/>
          </a:p>
        </p:txBody>
      </p:sp>
      <p:sp>
        <p:nvSpPr>
          <p:cNvPr id="10" name="Arrow"/>
          <p:cNvSpPr/>
          <p:nvPr/>
        </p:nvSpPr>
        <p:spPr>
          <a:xfrm>
            <a:off x="4453128" y="1645920"/>
            <a:ext cx="274320" cy="228600"/>
          </a:xfrm>
          <a:prstGeom prst="rightArrow">
            <a:avLst/>
          </a:prstGeom>
          <a:solidFill>
            <a:srgbClr val="1A9AB0"/>
          </a:solidFill>
          <a:ln w="12700">
            <a:solidFill>
              <a:srgbClr val="1A9AB0"/>
            </a:solidFill>
            <a:prstDash val="solid"/>
          </a:ln>
        </p:spPr>
      </p:sp>
      <p:sp>
        <p:nvSpPr>
          <p:cNvPr id="11" name="Pipeline box"/>
          <p:cNvSpPr/>
          <p:nvPr/>
        </p:nvSpPr>
        <p:spPr>
          <a:xfrm>
            <a:off x="4754880" y="1188720"/>
            <a:ext cx="1783080" cy="1188720"/>
          </a:xfrm>
          <a:prstGeom prst="roundRect">
            <a:avLst>
              <a:gd name="adj" fmla="val 7692"/>
            </a:avLst>
          </a:prstGeom>
          <a:solidFill>
            <a:srgbClr val="08202F"/>
          </a:solidFill>
          <a:ln w="12700">
            <a:solidFill>
              <a:srgbClr val="1B7F8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892040" y="132588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59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Gemma (local)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4892040" y="192024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4F7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monsters + hints</a:t>
            </a:r>
            <a:endParaRPr lang="en-US" sz="1400" dirty="0"/>
          </a:p>
        </p:txBody>
      </p:sp>
      <p:sp>
        <p:nvSpPr>
          <p:cNvPr id="14" name="Arrow"/>
          <p:cNvSpPr/>
          <p:nvPr/>
        </p:nvSpPr>
        <p:spPr>
          <a:xfrm>
            <a:off x="6601968" y="1645920"/>
            <a:ext cx="274320" cy="228600"/>
          </a:xfrm>
          <a:prstGeom prst="rightArrow">
            <a:avLst/>
          </a:prstGeom>
          <a:solidFill>
            <a:srgbClr val="1A9AB0"/>
          </a:solidFill>
          <a:ln w="12700">
            <a:solidFill>
              <a:srgbClr val="1A9AB0"/>
            </a:solidFill>
            <a:prstDash val="solid"/>
          </a:ln>
        </p:spPr>
      </p:sp>
      <p:sp>
        <p:nvSpPr>
          <p:cNvPr id="15" name="Pipeline box"/>
          <p:cNvSpPr/>
          <p:nvPr/>
        </p:nvSpPr>
        <p:spPr>
          <a:xfrm>
            <a:off x="6903720" y="1188720"/>
            <a:ext cx="1783080" cy="1188720"/>
          </a:xfrm>
          <a:prstGeom prst="roundRect">
            <a:avLst>
              <a:gd name="adj" fmla="val 7692"/>
            </a:avLst>
          </a:prstGeom>
          <a:solidFill>
            <a:srgbClr val="08202F"/>
          </a:solidFill>
          <a:ln w="12700">
            <a:solidFill>
              <a:srgbClr val="1B7F8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040880" y="132588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59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 screen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7040880" y="192024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4F7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map, fight, XP</a:t>
            </a:r>
            <a:endParaRPr lang="en-US" sz="1400" dirty="0"/>
          </a:p>
        </p:txBody>
      </p:sp>
      <p:sp>
        <p:nvSpPr>
          <p:cNvPr id="18" name="Note card"/>
          <p:cNvSpPr/>
          <p:nvPr/>
        </p:nvSpPr>
        <p:spPr>
          <a:xfrm>
            <a:off x="457200" y="2743200"/>
            <a:ext cx="2560320" cy="1645920"/>
          </a:xfrm>
          <a:prstGeom prst="roundRect">
            <a:avLst>
              <a:gd name="adj" fmla="val 5556"/>
            </a:avLst>
          </a:prstGeom>
          <a:solidFill>
            <a:srgbClr val="08202F"/>
          </a:solidFill>
          <a:ln w="12700">
            <a:solidFill>
              <a:srgbClr val="1B7F8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40080" y="28803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A9A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Fallback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640080" y="3246120"/>
            <a:ext cx="2240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4F7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Ollama is off, rule-based monsters and hints keep it running.</a:t>
            </a:r>
            <a:endParaRPr lang="en-US" sz="1400" dirty="0"/>
          </a:p>
        </p:txBody>
      </p:sp>
      <p:sp>
        <p:nvSpPr>
          <p:cNvPr id="21" name="Note card"/>
          <p:cNvSpPr/>
          <p:nvPr/>
        </p:nvSpPr>
        <p:spPr>
          <a:xfrm>
            <a:off x="3291840" y="2743200"/>
            <a:ext cx="2560320" cy="1645920"/>
          </a:xfrm>
          <a:prstGeom prst="roundRect">
            <a:avLst>
              <a:gd name="adj" fmla="val 5556"/>
            </a:avLst>
          </a:prstGeom>
          <a:solidFill>
            <a:srgbClr val="08202F"/>
          </a:solidFill>
          <a:ln w="12700">
            <a:solidFill>
              <a:srgbClr val="1B7F8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474720" y="28803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A9A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mode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3474720" y="3246120"/>
            <a:ext cx="2240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4F7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Built-in sample issues work offline or at the GitHub rate limit.</a:t>
            </a:r>
            <a:endParaRPr lang="en-US" sz="1400" dirty="0"/>
          </a:p>
        </p:txBody>
      </p:sp>
      <p:sp>
        <p:nvSpPr>
          <p:cNvPr id="24" name="Note card"/>
          <p:cNvSpPr/>
          <p:nvPr/>
        </p:nvSpPr>
        <p:spPr>
          <a:xfrm>
            <a:off x="6126480" y="2743200"/>
            <a:ext cx="2560320" cy="1645920"/>
          </a:xfrm>
          <a:prstGeom prst="roundRect">
            <a:avLst>
              <a:gd name="adj" fmla="val 5556"/>
            </a:avLst>
          </a:prstGeom>
          <a:solidFill>
            <a:srgbClr val="08202F"/>
          </a:solidFill>
          <a:ln w="12700">
            <a:solidFill>
              <a:srgbClr val="1B7F8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309360" y="28803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A9A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6309360" y="3246120"/>
            <a:ext cx="2240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4F7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Plain HTML, CSS and vanilla JavaScript. No backend.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9B8C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4F7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 </a:t>
            </a:r>
            <a:pPr indent="0" marL="0">
              <a:buNone/>
            </a:pPr>
            <a:r>
              <a:rPr lang="en-US" sz="3200" b="1" dirty="0">
                <a:solidFill>
                  <a:srgbClr val="1A9A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</a:t>
            </a:r>
            <a:endParaRPr lang="en-US" sz="3200" dirty="0"/>
          </a:p>
        </p:txBody>
      </p:sp>
      <p:sp>
        <p:nvSpPr>
          <p:cNvPr id="3" name="Feature card"/>
          <p:cNvSpPr/>
          <p:nvPr/>
        </p:nvSpPr>
        <p:spPr>
          <a:xfrm>
            <a:off x="457200" y="1188720"/>
            <a:ext cx="1920240" cy="1463040"/>
          </a:xfrm>
          <a:prstGeom prst="roundRect">
            <a:avLst>
              <a:gd name="adj" fmla="val 6250"/>
            </a:avLst>
          </a:prstGeom>
          <a:solidFill>
            <a:srgbClr val="08202F"/>
          </a:solidFill>
          <a:ln w="12700">
            <a:solidFill>
              <a:srgbClr val="1B7F8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132588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59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Dungeon map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173736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4F7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levels, 9 monster types</a:t>
            </a:r>
            <a:endParaRPr lang="en-US" sz="1400" dirty="0"/>
          </a:p>
        </p:txBody>
      </p:sp>
      <p:sp>
        <p:nvSpPr>
          <p:cNvPr id="6" name="Feature card"/>
          <p:cNvSpPr/>
          <p:nvPr/>
        </p:nvSpPr>
        <p:spPr>
          <a:xfrm>
            <a:off x="2560320" y="1188720"/>
            <a:ext cx="1920240" cy="1463040"/>
          </a:xfrm>
          <a:prstGeom prst="roundRect">
            <a:avLst>
              <a:gd name="adj" fmla="val 6250"/>
            </a:avLst>
          </a:prstGeom>
          <a:solidFill>
            <a:srgbClr val="08202F"/>
          </a:solidFill>
          <a:ln w="12700">
            <a:solidFill>
              <a:srgbClr val="1B7F8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697480" y="132588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59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AI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2697480" y="173736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4F7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Open-weight Gemma hints</a:t>
            </a:r>
            <a:endParaRPr lang="en-US" sz="1400" dirty="0"/>
          </a:p>
        </p:txBody>
      </p:sp>
      <p:sp>
        <p:nvSpPr>
          <p:cNvPr id="9" name="Feature card"/>
          <p:cNvSpPr/>
          <p:nvPr/>
        </p:nvSpPr>
        <p:spPr>
          <a:xfrm>
            <a:off x="4663440" y="1188720"/>
            <a:ext cx="1920240" cy="1463040"/>
          </a:xfrm>
          <a:prstGeom prst="roundRect">
            <a:avLst>
              <a:gd name="adj" fmla="val 6250"/>
            </a:avLst>
          </a:prstGeom>
          <a:solidFill>
            <a:srgbClr val="08202F"/>
          </a:solidFill>
          <a:ln w="12700">
            <a:solidFill>
              <a:srgbClr val="1B7F8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00600" y="132588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59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3-level hints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4800600" y="173736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4F7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hint costs XP</a:t>
            </a:r>
            <a:endParaRPr lang="en-US" sz="1400" dirty="0"/>
          </a:p>
        </p:txBody>
      </p:sp>
      <p:sp>
        <p:nvSpPr>
          <p:cNvPr id="12" name="Feature card"/>
          <p:cNvSpPr/>
          <p:nvPr/>
        </p:nvSpPr>
        <p:spPr>
          <a:xfrm>
            <a:off x="6766560" y="1188720"/>
            <a:ext cx="1920240" cy="1463040"/>
          </a:xfrm>
          <a:prstGeom prst="roundRect">
            <a:avLst>
              <a:gd name="adj" fmla="val 6250"/>
            </a:avLst>
          </a:prstGeom>
          <a:solidFill>
            <a:srgbClr val="08202F"/>
          </a:solidFill>
          <a:ln w="12700">
            <a:solidFill>
              <a:srgbClr val="1B7F8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903720" y="132588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59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XP and ranks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6903720" y="173736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4F7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Progress bar to Grim Reaper</a:t>
            </a:r>
            <a:endParaRPr lang="en-US" sz="1400" dirty="0"/>
          </a:p>
        </p:txBody>
      </p:sp>
      <p:sp>
        <p:nvSpPr>
          <p:cNvPr id="15" name="Feature card"/>
          <p:cNvSpPr/>
          <p:nvPr/>
        </p:nvSpPr>
        <p:spPr>
          <a:xfrm>
            <a:off x="457200" y="2834640"/>
            <a:ext cx="1920240" cy="1463040"/>
          </a:xfrm>
          <a:prstGeom prst="roundRect">
            <a:avLst>
              <a:gd name="adj" fmla="val 6250"/>
            </a:avLst>
          </a:prstGeom>
          <a:solidFill>
            <a:srgbClr val="08202F"/>
          </a:solidFill>
          <a:ln w="12700">
            <a:solidFill>
              <a:srgbClr val="1B7F8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94360" y="297180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59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PR flow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594360" y="338328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4F7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Defeat monsters with a PR link</a:t>
            </a:r>
            <a:endParaRPr lang="en-US" sz="1400" dirty="0"/>
          </a:p>
        </p:txBody>
      </p:sp>
      <p:sp>
        <p:nvSpPr>
          <p:cNvPr id="18" name="Feature card"/>
          <p:cNvSpPr/>
          <p:nvPr/>
        </p:nvSpPr>
        <p:spPr>
          <a:xfrm>
            <a:off x="2560320" y="2834640"/>
            <a:ext cx="1920240" cy="1463040"/>
          </a:xfrm>
          <a:prstGeom prst="roundRect">
            <a:avLst>
              <a:gd name="adj" fmla="val 6250"/>
            </a:avLst>
          </a:prstGeom>
          <a:solidFill>
            <a:srgbClr val="08202F"/>
          </a:solidFill>
          <a:ln w="12700">
            <a:solidFill>
              <a:srgbClr val="1B7F8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2697480" y="297180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59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Saved progress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2697480" y="338328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4F7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Stored in your browser</a:t>
            </a:r>
            <a:endParaRPr lang="en-US" sz="1400" dirty="0"/>
          </a:p>
        </p:txBody>
      </p:sp>
      <p:sp>
        <p:nvSpPr>
          <p:cNvPr id="21" name="Feature card"/>
          <p:cNvSpPr/>
          <p:nvPr/>
        </p:nvSpPr>
        <p:spPr>
          <a:xfrm>
            <a:off x="4663440" y="2834640"/>
            <a:ext cx="1920240" cy="1463040"/>
          </a:xfrm>
          <a:prstGeom prst="roundRect">
            <a:avLst>
              <a:gd name="adj" fmla="val 6250"/>
            </a:avLst>
          </a:prstGeom>
          <a:solidFill>
            <a:srgbClr val="08202F"/>
          </a:solidFill>
          <a:ln w="12700">
            <a:solidFill>
              <a:srgbClr val="1B7F8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800600" y="297180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59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Offline-friendly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4800600" y="338328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4F7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fallback and Demo mode</a:t>
            </a:r>
            <a:endParaRPr lang="en-US" sz="1400" dirty="0"/>
          </a:p>
        </p:txBody>
      </p:sp>
      <p:sp>
        <p:nvSpPr>
          <p:cNvPr id="24" name="Feature card"/>
          <p:cNvSpPr/>
          <p:nvPr/>
        </p:nvSpPr>
        <p:spPr>
          <a:xfrm>
            <a:off x="6766560" y="2834640"/>
            <a:ext cx="1920240" cy="1463040"/>
          </a:xfrm>
          <a:prstGeom prst="roundRect">
            <a:avLst>
              <a:gd name="adj" fmla="val 6250"/>
            </a:avLst>
          </a:prstGeom>
          <a:solidFill>
            <a:srgbClr val="08202F"/>
          </a:solidFill>
          <a:ln w="12700">
            <a:solidFill>
              <a:srgbClr val="1B7F8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903720" y="297180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59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Spooky theme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6903720" y="338328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4F7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Pixel-art Halloween look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9B8C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4F7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It </a:t>
            </a:r>
            <a:pPr indent="0" marL="0">
              <a:buNone/>
            </a:pPr>
            <a:r>
              <a:rPr lang="en-US" sz="3200" b="1" dirty="0">
                <a:solidFill>
                  <a:srgbClr val="1A9A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Locally</a:t>
            </a:r>
            <a:endParaRPr lang="en-US" sz="3200" dirty="0"/>
          </a:p>
        </p:txBody>
      </p:sp>
      <p:sp>
        <p:nvSpPr>
          <p:cNvPr id="3" name="Code panel"/>
          <p:cNvSpPr/>
          <p:nvPr/>
        </p:nvSpPr>
        <p:spPr>
          <a:xfrm>
            <a:off x="457200" y="1188720"/>
            <a:ext cx="5486400" cy="3200400"/>
          </a:xfrm>
          <a:prstGeom prst="roundRect">
            <a:avLst>
              <a:gd name="adj" fmla="val 2857"/>
            </a:avLst>
          </a:prstGeom>
          <a:solidFill>
            <a:srgbClr val="010913"/>
          </a:solidFill>
          <a:ln w="12700">
            <a:solidFill>
              <a:srgbClr val="1B7F8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371600"/>
            <a:ext cx="50749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4F7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clone https://github.com/anshraj3060/haunted-repo.git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4F7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haunted-repo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4F7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A9B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optional, for AI hints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4F7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OLLAMA_ORIGINS="*" ollama serve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4F7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ollama pull gemma3:4b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4F7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A9B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serve the game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A9A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python3 -m http.server 8000</a:t>
            </a:r>
            <a:endParaRPr lang="en-US" sz="1200" dirty="0"/>
          </a:p>
        </p:txBody>
      </p:sp>
      <p:sp>
        <p:nvSpPr>
          <p:cNvPr id="5" name="Tip card"/>
          <p:cNvSpPr/>
          <p:nvPr/>
        </p:nvSpPr>
        <p:spPr>
          <a:xfrm>
            <a:off x="6217920" y="1188720"/>
            <a:ext cx="2468880" cy="1508760"/>
          </a:xfrm>
          <a:prstGeom prst="roundRect">
            <a:avLst>
              <a:gd name="adj" fmla="val 6061"/>
            </a:avLst>
          </a:prstGeom>
          <a:solidFill>
            <a:srgbClr val="08202F"/>
          </a:solidFill>
          <a:ln w="12700">
            <a:solidFill>
              <a:srgbClr val="1B7F8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0" y="13258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59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400800" y="164592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4F7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localhost:8000 in your browser.</a:t>
            </a:r>
            <a:endParaRPr lang="en-US" sz="1400" dirty="0"/>
          </a:p>
        </p:txBody>
      </p:sp>
      <p:sp>
        <p:nvSpPr>
          <p:cNvPr id="8" name="Tip card"/>
          <p:cNvSpPr/>
          <p:nvPr/>
        </p:nvSpPr>
        <p:spPr>
          <a:xfrm>
            <a:off x="6217920" y="2880360"/>
            <a:ext cx="2468880" cy="1508760"/>
          </a:xfrm>
          <a:prstGeom prst="roundRect">
            <a:avLst>
              <a:gd name="adj" fmla="val 6061"/>
            </a:avLst>
          </a:prstGeom>
          <a:solidFill>
            <a:srgbClr val="08202F"/>
          </a:solidFill>
          <a:ln w="12700">
            <a:solidFill>
              <a:srgbClr val="1B7F8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0" y="30175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59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Ollama?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400800" y="3337560"/>
            <a:ext cx="2148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4F7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Rule-based hints still work. Hit the rate limit? Click Demo mode.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9B8C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4F7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Limits and </a:t>
            </a:r>
            <a:pPr indent="0" marL="0">
              <a:buNone/>
            </a:pPr>
            <a:r>
              <a:rPr lang="en-US" sz="3200" b="1" dirty="0">
                <a:solidFill>
                  <a:srgbClr val="1A9A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Next</a:t>
            </a:r>
            <a:endParaRPr lang="en-US" sz="3200" dirty="0"/>
          </a:p>
        </p:txBody>
      </p:sp>
      <p:sp>
        <p:nvSpPr>
          <p:cNvPr id="3" name="Today card"/>
          <p:cNvSpPr/>
          <p:nvPr/>
        </p:nvSpPr>
        <p:spPr>
          <a:xfrm>
            <a:off x="457200" y="1188720"/>
            <a:ext cx="3749040" cy="3108960"/>
          </a:xfrm>
          <a:prstGeom prst="roundRect">
            <a:avLst>
              <a:gd name="adj" fmla="val 2941"/>
            </a:avLst>
          </a:prstGeom>
          <a:solidFill>
            <a:srgbClr val="08202F"/>
          </a:solidFill>
          <a:ln w="12700">
            <a:solidFill>
              <a:srgbClr val="1B7F8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3716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A9A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828800"/>
            <a:ext cx="32004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F4F7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Checks that the PR link looks valid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F4F7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Does not judge if the fix is correct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F4F7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maintainers review and merge the PR</a:t>
            </a:r>
            <a:endParaRPr lang="en-US" sz="1600" dirty="0"/>
          </a:p>
        </p:txBody>
      </p:sp>
      <p:sp>
        <p:nvSpPr>
          <p:cNvPr id="6" name="Arrow"/>
          <p:cNvSpPr/>
          <p:nvPr/>
        </p:nvSpPr>
        <p:spPr>
          <a:xfrm>
            <a:off x="4297680" y="2560320"/>
            <a:ext cx="274320" cy="228600"/>
          </a:xfrm>
          <a:prstGeom prst="rightArrow">
            <a:avLst/>
          </a:prstGeom>
          <a:solidFill>
            <a:srgbClr val="1A9AB0"/>
          </a:solidFill>
          <a:ln w="12700">
            <a:solidFill>
              <a:srgbClr val="1A9AB0"/>
            </a:solidFill>
            <a:prstDash val="solid"/>
          </a:ln>
        </p:spPr>
      </p:sp>
      <p:sp>
        <p:nvSpPr>
          <p:cNvPr id="7" name="Next card"/>
          <p:cNvSpPr/>
          <p:nvPr/>
        </p:nvSpPr>
        <p:spPr>
          <a:xfrm>
            <a:off x="4663440" y="1188720"/>
            <a:ext cx="4023360" cy="3108960"/>
          </a:xfrm>
          <a:prstGeom prst="roundRect">
            <a:avLst>
              <a:gd name="adj" fmla="val 2941"/>
            </a:avLst>
          </a:prstGeom>
          <a:solidFill>
            <a:srgbClr val="08202F"/>
          </a:solidFill>
          <a:ln w="12700">
            <a:solidFill>
              <a:srgbClr val="F59A2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937760" y="13716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59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4937760" y="1828800"/>
            <a:ext cx="34747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F4F7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 the PR with the GitHub API: does it exist, is it linked to the issue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F4F7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Bonus XP when the PR is merged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9B8C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4F7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ByteForce </a:t>
            </a:r>
            <a:pPr indent="0" marL="0">
              <a:buNone/>
            </a:pPr>
            <a:r>
              <a:rPr lang="en-US" sz="3200" b="1" dirty="0">
                <a:solidFill>
                  <a:srgbClr val="1A9A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How We Built It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887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59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BYTEFORCE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5087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9B8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Bosscoder School of Technology</a:t>
            </a:r>
            <a:endParaRPr lang="en-US" sz="1400" dirty="0"/>
          </a:p>
        </p:txBody>
      </p:sp>
      <p:sp>
        <p:nvSpPr>
          <p:cNvPr id="5" name="Member card"/>
          <p:cNvSpPr/>
          <p:nvPr/>
        </p:nvSpPr>
        <p:spPr>
          <a:xfrm>
            <a:off x="457200" y="1920240"/>
            <a:ext cx="3931920" cy="1097280"/>
          </a:xfrm>
          <a:prstGeom prst="roundRect">
            <a:avLst>
              <a:gd name="adj" fmla="val 8333"/>
            </a:avLst>
          </a:prstGeom>
          <a:solidFill>
            <a:srgbClr val="08202F"/>
          </a:solidFill>
          <a:ln w="12700">
            <a:solidFill>
              <a:srgbClr val="1B7F8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202996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A9A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Ansh Raj (Team Lead)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395728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4F7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 and game design, backend, AI, demo and README</a:t>
            </a:r>
            <a:endParaRPr lang="en-US" sz="1400" dirty="0"/>
          </a:p>
        </p:txBody>
      </p:sp>
      <p:sp>
        <p:nvSpPr>
          <p:cNvPr id="8" name="Member card"/>
          <p:cNvSpPr/>
          <p:nvPr/>
        </p:nvSpPr>
        <p:spPr>
          <a:xfrm>
            <a:off x="457200" y="3154680"/>
            <a:ext cx="3931920" cy="1097280"/>
          </a:xfrm>
          <a:prstGeom prst="roundRect">
            <a:avLst>
              <a:gd name="adj" fmla="val 8333"/>
            </a:avLst>
          </a:prstGeom>
          <a:solidFill>
            <a:srgbClr val="08202F"/>
          </a:solidFill>
          <a:ln w="12700">
            <a:solidFill>
              <a:srgbClr val="1B7F8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326440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A9A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Shriyam Gupta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3630168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4F7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Frontend, AI and data: issue fetching, Dungeon list, polish, testing, sample data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754880" y="11887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59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TOOLS USED</a:t>
            </a:r>
            <a:endParaRPr lang="en-US" sz="1400" dirty="0"/>
          </a:p>
        </p:txBody>
      </p:sp>
      <p:sp>
        <p:nvSpPr>
          <p:cNvPr id="12" name="Tool card"/>
          <p:cNvSpPr/>
          <p:nvPr/>
        </p:nvSpPr>
        <p:spPr>
          <a:xfrm>
            <a:off x="4754880" y="1920240"/>
            <a:ext cx="3931920" cy="1097280"/>
          </a:xfrm>
          <a:prstGeom prst="roundRect">
            <a:avLst>
              <a:gd name="adj" fmla="val 8333"/>
            </a:avLst>
          </a:prstGeom>
          <a:solidFill>
            <a:srgbClr val="08202F"/>
          </a:solidFill>
          <a:ln w="12700">
            <a:solidFill>
              <a:srgbClr val="1B7F8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937760" y="202996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A9A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Arena AI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4937760" y="2395728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4F7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Helped write the code one small part at a time. We reviewed and explained every part.</a:t>
            </a:r>
            <a:endParaRPr lang="en-US" sz="1400" dirty="0"/>
          </a:p>
        </p:txBody>
      </p:sp>
      <p:sp>
        <p:nvSpPr>
          <p:cNvPr id="15" name="Tool card"/>
          <p:cNvSpPr/>
          <p:nvPr/>
        </p:nvSpPr>
        <p:spPr>
          <a:xfrm>
            <a:off x="4754880" y="3154680"/>
            <a:ext cx="3931920" cy="1097280"/>
          </a:xfrm>
          <a:prstGeom prst="roundRect">
            <a:avLst>
              <a:gd name="adj" fmla="val 8333"/>
            </a:avLst>
          </a:prstGeom>
          <a:solidFill>
            <a:srgbClr val="08202F"/>
          </a:solidFill>
          <a:ln w="12700">
            <a:solidFill>
              <a:srgbClr val="1B7F8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937760" y="326440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A9A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Gemma via Ollama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4937760" y="3630168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4F7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Local, open-weight. Powers monster names and hints in the game.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44348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A9B8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by two first-year students, with a lot of coffee and one very haunted night.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9B8C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8229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F4F7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Haunted Repo</a:t>
            </a:r>
            <a:endParaRPr lang="en-US" sz="5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9202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A9A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commit -m "let's go"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9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bug is a ghost. Catch it.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38404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9B8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 License  |  GitHub REST API, Ollama, Gemma, Google Fonts  |  Hacktoberfest 2026 by DevForge x Major League Hacking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ogLens Night">
  <a:themeElements>
    <a:clrScheme name="LogLens Night">
      <a:dk1>
        <a:srgbClr val="020F1E"/>
      </a:dk1>
      <a:lt1>
        <a:srgbClr val="F4F7F9"/>
      </a:lt1>
      <a:dk2>
        <a:srgbClr val="08202F"/>
      </a:dk2>
      <a:lt2>
        <a:srgbClr val="A9B8C4"/>
      </a:lt2>
      <a:accent1>
        <a:srgbClr val="1A9AB0"/>
      </a:accent1>
      <a:accent2>
        <a:srgbClr val="F59A2B"/>
      </a:accent2>
      <a:accent3>
        <a:srgbClr val="E8702A"/>
      </a:accent3>
      <a:accent4>
        <a:srgbClr val="1B7F8F"/>
      </a:accent4>
      <a:accent5>
        <a:srgbClr val="A9B8C4"/>
      </a:accent5>
      <a:accent6>
        <a:srgbClr val="FFFFFF"/>
      </a:accent6>
      <a:hlink>
        <a:srgbClr val="1A9AB0"/>
      </a:hlink>
      <a:folHlink>
        <a:srgbClr val="A9B8C4"/>
      </a:folHlink>
    </a:clrScheme>
    <a:fontScheme name="LogLens Night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Haunted Repo</dc:title>
  <dc:subject>PptxGenJS Presentation</dc:subject>
  <dc:creator>Team ByteForce</dc:creator>
  <cp:lastModifiedBy>Team ByteForce</cp:lastModifiedBy>
  <cp:revision>1</cp:revision>
  <dcterms:created xsi:type="dcterms:W3CDTF">2026-10-31T01:49:49Z</dcterms:created>
  <dcterms:modified xsi:type="dcterms:W3CDTF">2026-10-31T01:49:49Z</dcterms:modified>
</cp:coreProperties>
</file>